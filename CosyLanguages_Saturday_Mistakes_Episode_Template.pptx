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8B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(4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6305" y="301498"/>
            <a:ext cx="2926080" cy="2926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657600"/>
            <a:ext cx="1074420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3100" b="0" i="0">
                <a:solidFill>
                  <a:srgbClr val="050707"/>
                </a:solidFill>
                <a:latin typeface="Georgia" panose="02040502050405020303"/>
              </a:rPr>
              <a:t>SATURDAY MISTAKES</a:t>
            </a:r>
            <a:endParaRPr sz="31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4343400"/>
            <a:ext cx="107442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0" i="0">
                <a:solidFill>
                  <a:srgbClr val="050707"/>
                </a:solidFill>
                <a:latin typeface="Aptos"/>
              </a:rPr>
              <a:t>5 English mistakes + 5 French mistakes</a:t>
            </a:r>
            <a:endParaRPr sz="19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956048"/>
            <a:ext cx="1074420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 i="1">
                <a:solidFill>
                  <a:srgbClr val="EF002A"/>
                </a:solidFill>
                <a:latin typeface="Georgia" panose="02040502050405020303"/>
              </a:rPr>
              <a:t>10 small corrections. More confident language.</a:t>
            </a:r>
            <a:endParaRPr sz="1600" b="0" i="1">
              <a:solidFill>
                <a:srgbClr val="EF002A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97680" y="5897880"/>
            <a:ext cx="36118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50707"/>
                </a:solidFill>
                <a:latin typeface="Aptos"/>
              </a:rPr>
              <a:t>COSY LANGUAGES</a:t>
            </a:r>
            <a:endParaRPr sz="1000" b="1" i="0">
              <a:solidFill>
                <a:srgbClr val="05070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57200"/>
            <a:ext cx="2240280" cy="347472"/>
          </a:xfrm>
          <a:prstGeom prst="roundRect">
            <a:avLst/>
          </a:prstGeom>
          <a:solidFill>
            <a:srgbClr val="007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0916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WELCOME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0" i="0">
                <a:solidFill>
                  <a:srgbClr val="050707"/>
                </a:solidFill>
                <a:latin typeface="Georgia" panose="02040502050405020303"/>
              </a:rPr>
              <a:t>Welcome to Saturday Mistakes!</a:t>
            </a:r>
            <a:endParaRPr sz="30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944" y="1664208"/>
            <a:ext cx="106070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56464"/>
                </a:solidFill>
                <a:latin typeface="Aptos"/>
              </a:rPr>
              <a:t>A friendly reminder: mistakes are proof that you’re learning.</a:t>
            </a:r>
            <a:endParaRPr sz="1400" b="0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WELCOME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pic>
        <p:nvPicPr>
          <p:cNvPr id="9" name="Picture 8" descr="image(5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228600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0" y="2286000"/>
            <a:ext cx="621792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0" i="0">
                <a:solidFill>
                  <a:srgbClr val="050707"/>
                </a:solidFill>
                <a:latin typeface="Georgia" panose="02040502050405020303"/>
              </a:rPr>
              <a:t>Every week, we:</a:t>
            </a:r>
            <a:endParaRPr sz="21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20440" y="2788920"/>
            <a:ext cx="7315200" cy="20574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50707"/>
                </a:solidFill>
                <a:latin typeface="Aptos"/>
              </a:rPr>
              <a:t>01  Notice common mistakes</a:t>
            </a:r>
            <a:endParaRPr sz="1800" b="0" i="0">
              <a:solidFill>
                <a:srgbClr val="050707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50707"/>
                </a:solidFill>
                <a:latin typeface="Aptos"/>
              </a:rPr>
              <a:t>02  Understand why they happen</a:t>
            </a:r>
            <a:endParaRPr sz="1800" b="0" i="0">
              <a:solidFill>
                <a:srgbClr val="050707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50707"/>
                </a:solidFill>
                <a:latin typeface="Aptos"/>
              </a:rPr>
              <a:t>03  Learn a more natural pattern</a:t>
            </a:r>
            <a:endParaRPr sz="1800" b="0" i="0">
              <a:solidFill>
                <a:srgbClr val="050707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50707"/>
                </a:solidFill>
                <a:latin typeface="Aptos"/>
              </a:rPr>
              <a:t>04  Practise it together — no judgement!</a:t>
            </a:r>
            <a:endParaRPr sz="18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102412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 i="1">
                <a:solidFill>
                  <a:srgbClr val="007A79"/>
                </a:solidFill>
                <a:latin typeface="Aptos"/>
              </a:rPr>
              <a:t>Get comfortable, grab your favourite drink, and let’s learn something new.</a:t>
            </a:r>
            <a:endParaRPr sz="1600" b="0" i="1">
              <a:solidFill>
                <a:srgbClr val="007A79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INTRO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8B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36576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50707"/>
                </a:solidFill>
                <a:latin typeface="Aptos"/>
              </a:rPr>
              <a:t>TODAY’S ROADMAP</a:t>
            </a:r>
            <a:endParaRPr sz="1200" b="1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1097280"/>
            <a:ext cx="10698480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0" i="0">
                <a:solidFill>
                  <a:srgbClr val="050707"/>
                </a:solidFill>
                <a:latin typeface="Georgia" panose="02040502050405020303"/>
              </a:rPr>
              <a:t>10 mistakes. 2 languages.</a:t>
            </a:r>
            <a:endParaRPr sz="34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22960" y="2240280"/>
            <a:ext cx="498348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514600"/>
            <a:ext cx="42976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EF002A"/>
                </a:solidFill>
                <a:latin typeface="Aptos"/>
              </a:rPr>
              <a:t>PART 1  •  ENGLISH</a:t>
            </a:r>
            <a:endParaRPr sz="13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907792"/>
            <a:ext cx="4206240" cy="11430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50707"/>
                </a:solidFill>
                <a:latin typeface="Aptos"/>
              </a:rPr>
              <a:t>01  Future forms</a:t>
            </a:r>
            <a:endParaRPr sz="1600" b="0" i="0">
              <a:solidFill>
                <a:srgbClr val="050707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50707"/>
                </a:solidFill>
                <a:latin typeface="Aptos"/>
              </a:rPr>
              <a:t>02  Spend time + -ing</a:t>
            </a:r>
            <a:endParaRPr sz="1600" b="0" i="0">
              <a:solidFill>
                <a:srgbClr val="050707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50707"/>
                </a:solidFill>
                <a:latin typeface="Aptos"/>
              </a:rPr>
              <a:t>03  No / any</a:t>
            </a:r>
            <a:endParaRPr sz="1600" b="0" i="0">
              <a:solidFill>
                <a:srgbClr val="050707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50707"/>
                </a:solidFill>
                <a:latin typeface="Aptos"/>
              </a:rPr>
              <a:t>04  Verb + preposition</a:t>
            </a:r>
            <a:endParaRPr sz="1600" b="0" i="0">
              <a:solidFill>
                <a:srgbClr val="050707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050707"/>
                </a:solidFill>
                <a:latin typeface="Aptos"/>
              </a:rPr>
              <a:t>05  Depend on</a:t>
            </a:r>
            <a:endParaRPr sz="16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55080" y="2240280"/>
            <a:ext cx="4983480" cy="2057400"/>
          </a:xfrm>
          <a:prstGeom prst="roundRect">
            <a:avLst/>
          </a:prstGeom>
          <a:solidFill>
            <a:srgbClr val="05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514600"/>
            <a:ext cx="429768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AB8B1"/>
                </a:solidFill>
                <a:latin typeface="Aptos"/>
              </a:rPr>
              <a:t>PART 2  •  FRANÇAIS</a:t>
            </a:r>
            <a:endParaRPr sz="1300" b="1" i="0">
              <a:solidFill>
                <a:srgbClr val="0AB8B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0" y="2907792"/>
            <a:ext cx="4206240" cy="11430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06  Heureux / heureuse</a:t>
            </a:r>
            <a:endParaRPr sz="1600" b="0" i="0">
              <a:solidFill>
                <a:srgbClr val="FFFFFF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07  Il faut / il fait</a:t>
            </a:r>
            <a:endParaRPr sz="1600" b="0" i="0">
              <a:solidFill>
                <a:srgbClr val="FFFFFF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08  Étrange / étranger</a:t>
            </a:r>
            <a:endParaRPr sz="1600" b="0" i="0">
              <a:solidFill>
                <a:srgbClr val="FFFFFF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09  Assez de / d’</a:t>
            </a:r>
            <a:endParaRPr sz="1600" b="0" i="0">
              <a:solidFill>
                <a:srgbClr val="FFFFFF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10  Présent / futur / passé</a:t>
            </a:r>
            <a:endParaRPr sz="1600" b="0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 i="0">
                <a:solidFill>
                  <a:srgbClr val="050707"/>
                </a:solidFill>
                <a:latin typeface="Aptos"/>
              </a:rPr>
              <a:t>Timestamps are in the video description.</a:t>
            </a:r>
            <a:endParaRPr sz="16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ROADMAP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57200"/>
            <a:ext cx="2240280" cy="347472"/>
          </a:xfrm>
          <a:prstGeom prst="roundRect">
            <a:avLst/>
          </a:prstGeom>
          <a:solidFill>
            <a:srgbClr val="007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0916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SATURDAY MISTAKES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0" i="0">
                <a:solidFill>
                  <a:srgbClr val="050707"/>
                </a:solidFill>
                <a:latin typeface="Georgia" panose="02040502050405020303"/>
              </a:rPr>
              <a:t>Mistake 1: Future forms</a:t>
            </a:r>
            <a:endParaRPr sz="30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944" y="1664208"/>
            <a:ext cx="106070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56464"/>
                </a:solidFill>
                <a:latin typeface="Aptos"/>
              </a:rPr>
              <a:t>ENGLISH • Notice the pattern, not just the individual sentence.</a:t>
            </a:r>
            <a:endParaRPr sz="1400" b="0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2240280"/>
            <a:ext cx="5074920" cy="1188720"/>
          </a:xfrm>
          <a:prstGeom prst="roundRect">
            <a:avLst/>
          </a:prstGeom>
          <a:solidFill>
            <a:srgbClr val="FF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59152"/>
            <a:ext cx="20116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F002A"/>
                </a:solidFill>
                <a:latin typeface="Aptos"/>
              </a:rPr>
              <a:t>NOT QUITE</a:t>
            </a:r>
            <a:endParaRPr sz="10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52628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“I will be go.”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55080" y="2240280"/>
            <a:ext cx="5074920" cy="1188720"/>
          </a:xfrm>
          <a:prstGeom prst="roundRect">
            <a:avLst/>
          </a:prstGeom>
          <a:solidFill>
            <a:srgbClr val="E1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359152"/>
            <a:ext cx="20116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7A79"/>
                </a:solidFill>
                <a:latin typeface="Aptos"/>
              </a:rPr>
              <a:t>SAY THIS</a:t>
            </a:r>
            <a:endParaRPr sz="10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1968" y="2651760"/>
            <a:ext cx="452628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“I will go.”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749039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7A79"/>
                </a:solidFill>
                <a:latin typeface="Aptos"/>
              </a:rPr>
              <a:t>THE COSY RULE</a:t>
            </a:r>
            <a:endParaRPr sz="11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050791"/>
            <a:ext cx="1046988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50707"/>
                </a:solidFill>
                <a:latin typeface="Aptos"/>
              </a:rPr>
              <a:t>After “will”, use the base verb. For the future continuous, use “will be + verb-ing”.</a:t>
            </a:r>
            <a:endParaRPr sz="18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828032"/>
            <a:ext cx="21945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556464"/>
                </a:solidFill>
                <a:latin typeface="Aptos"/>
              </a:rPr>
              <a:t>MORE EXAMPLES</a:t>
            </a:r>
            <a:endParaRPr sz="10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050707"/>
                </a:solidFill>
                <a:latin typeface="Aptos"/>
              </a:rPr>
              <a:t>I will work tomorrow.  •  I will be working at 9 a.m.  •  I will be happy.</a:t>
            </a:r>
            <a:endParaRPr sz="15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515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EF002A"/>
                </a:solidFill>
                <a:latin typeface="Aptos"/>
              </a:rPr>
              <a:t>YOUR TURN: Which is correct? A) I will be visit.  B) I will visit.  C) I will visiting.</a:t>
            </a:r>
            <a:endParaRPr sz="13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57200"/>
            <a:ext cx="2240280" cy="347472"/>
          </a:xfrm>
          <a:prstGeom prst="roundRect">
            <a:avLst/>
          </a:prstGeom>
          <a:solidFill>
            <a:srgbClr val="007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0916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SATURDAY MISTAKES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0" i="0">
                <a:solidFill>
                  <a:srgbClr val="050707"/>
                </a:solidFill>
                <a:latin typeface="Georgia" panose="02040502050405020303"/>
              </a:rPr>
              <a:t>Mistake 2: Spend time</a:t>
            </a:r>
            <a:endParaRPr sz="30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944" y="1664208"/>
            <a:ext cx="106070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56464"/>
                </a:solidFill>
                <a:latin typeface="Aptos"/>
              </a:rPr>
              <a:t>ENGLISH • Notice the pattern, not just the individual sentence.</a:t>
            </a:r>
            <a:endParaRPr sz="1400" b="0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2240280"/>
            <a:ext cx="5074920" cy="1188720"/>
          </a:xfrm>
          <a:prstGeom prst="roundRect">
            <a:avLst/>
          </a:prstGeom>
          <a:solidFill>
            <a:srgbClr val="FF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59152"/>
            <a:ext cx="20116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F002A"/>
                </a:solidFill>
                <a:latin typeface="Aptos"/>
              </a:rPr>
              <a:t>NOT QUITE</a:t>
            </a:r>
            <a:endParaRPr sz="10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52628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“I spent time for learning English.”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55080" y="2240280"/>
            <a:ext cx="5074920" cy="1188720"/>
          </a:xfrm>
          <a:prstGeom prst="roundRect">
            <a:avLst/>
          </a:prstGeom>
          <a:solidFill>
            <a:srgbClr val="E1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359152"/>
            <a:ext cx="20116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7A79"/>
                </a:solidFill>
                <a:latin typeface="Aptos"/>
              </a:rPr>
              <a:t>SAY THIS</a:t>
            </a:r>
            <a:endParaRPr sz="10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1968" y="2651760"/>
            <a:ext cx="452628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“I spent time learning English.”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749039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7A79"/>
                </a:solidFill>
                <a:latin typeface="Aptos"/>
              </a:rPr>
              <a:t>THE COSY RULE</a:t>
            </a:r>
            <a:endParaRPr sz="11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050791"/>
            <a:ext cx="1046988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50707"/>
                </a:solidFill>
                <a:latin typeface="Aptos"/>
              </a:rPr>
              <a:t>Use “spend time + verb-ing”: spend time doing something. Use “to + verb” to express purpose in a different clause.</a:t>
            </a:r>
            <a:endParaRPr sz="18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828032"/>
            <a:ext cx="21945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556464"/>
                </a:solidFill>
                <a:latin typeface="Aptos"/>
              </a:rPr>
              <a:t>MORE EXAMPLES</a:t>
            </a:r>
            <a:endParaRPr sz="10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050707"/>
                </a:solidFill>
                <a:latin typeface="Aptos"/>
              </a:rPr>
              <a:t>I spent an hour practising English.  •  She spends time reading.  •  I study to improve my English.</a:t>
            </a:r>
            <a:endParaRPr sz="15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515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EF002A"/>
                </a:solidFill>
                <a:latin typeface="Aptos"/>
              </a:rPr>
              <a:t>YOUR TURN: I spend 30 minutes ___ before bed. A) to read  B) reading  C) for read.</a:t>
            </a:r>
            <a:endParaRPr sz="13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57200"/>
            <a:ext cx="2240280" cy="347472"/>
          </a:xfrm>
          <a:prstGeom prst="roundRect">
            <a:avLst/>
          </a:prstGeom>
          <a:solidFill>
            <a:srgbClr val="007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0916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SATURDAY MISTAKES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0" i="0">
                <a:solidFill>
                  <a:srgbClr val="050707"/>
                </a:solidFill>
                <a:latin typeface="Georgia" panose="02040502050405020303"/>
              </a:rPr>
              <a:t>Mistake 3: No / any</a:t>
            </a:r>
            <a:endParaRPr sz="30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944" y="1664208"/>
            <a:ext cx="106070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56464"/>
                </a:solidFill>
                <a:latin typeface="Aptos"/>
              </a:rPr>
              <a:t>ENGLISH • Notice the pattern, not just the individual sentence.</a:t>
            </a:r>
            <a:endParaRPr sz="1400" b="0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2240280"/>
            <a:ext cx="5074920" cy="1188720"/>
          </a:xfrm>
          <a:prstGeom prst="roundRect">
            <a:avLst/>
          </a:prstGeom>
          <a:solidFill>
            <a:srgbClr val="FF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59152"/>
            <a:ext cx="20116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F002A"/>
                </a:solidFill>
                <a:latin typeface="Aptos"/>
              </a:rPr>
              <a:t>NOT QUITE</a:t>
            </a:r>
            <a:endParaRPr sz="10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52628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“I have no some problems.”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55080" y="2240280"/>
            <a:ext cx="5074920" cy="1188720"/>
          </a:xfrm>
          <a:prstGeom prst="roundRect">
            <a:avLst/>
          </a:prstGeom>
          <a:solidFill>
            <a:srgbClr val="E1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359152"/>
            <a:ext cx="20116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7A79"/>
                </a:solidFill>
                <a:latin typeface="Aptos"/>
              </a:rPr>
              <a:t>SAY THIS</a:t>
            </a:r>
            <a:endParaRPr sz="10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1968" y="2651760"/>
            <a:ext cx="452628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“I have no problems. / I don’t have any problems.”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749039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7A79"/>
                </a:solidFill>
                <a:latin typeface="Aptos"/>
              </a:rPr>
              <a:t>THE COSY RULE</a:t>
            </a:r>
            <a:endParaRPr sz="11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050791"/>
            <a:ext cx="1046988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50707"/>
                </a:solidFill>
                <a:latin typeface="Aptos"/>
              </a:rPr>
              <a:t>Choose one negative pattern: “no + noun” OR “don’t/doesn’t + verb + any + noun”.</a:t>
            </a:r>
            <a:endParaRPr sz="18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828032"/>
            <a:ext cx="21945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556464"/>
                </a:solidFill>
                <a:latin typeface="Aptos"/>
              </a:rPr>
              <a:t>MORE EXAMPLES</a:t>
            </a:r>
            <a:endParaRPr sz="10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050707"/>
                </a:solidFill>
                <a:latin typeface="Aptos"/>
              </a:rPr>
              <a:t>There is no milk.  •  There isn’t any milk.  •  I have no questions.</a:t>
            </a:r>
            <a:endParaRPr sz="15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515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EF002A"/>
                </a:solidFill>
                <a:latin typeface="Aptos"/>
              </a:rPr>
              <a:t>YOUR TURN: I checked my bag, but… A) I have no some snacks.  B) I have any snacks.  C) I have no snacks.</a:t>
            </a:r>
            <a:endParaRPr sz="13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57200"/>
            <a:ext cx="2240280" cy="347472"/>
          </a:xfrm>
          <a:prstGeom prst="roundRect">
            <a:avLst/>
          </a:prstGeom>
          <a:solidFill>
            <a:srgbClr val="007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0916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SATURDAY MISTAKES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0" i="0">
                <a:solidFill>
                  <a:srgbClr val="050707"/>
                </a:solidFill>
                <a:latin typeface="Georgia" panose="02040502050405020303"/>
              </a:rPr>
              <a:t>Mistake 4: Verbs + prepositions</a:t>
            </a:r>
            <a:endParaRPr sz="30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944" y="1664208"/>
            <a:ext cx="106070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56464"/>
                </a:solidFill>
                <a:latin typeface="Aptos"/>
              </a:rPr>
              <a:t>ENGLISH • Notice the pattern, not just the individual sentence.</a:t>
            </a:r>
            <a:endParaRPr sz="1400" b="0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2240280"/>
            <a:ext cx="5074920" cy="1188720"/>
          </a:xfrm>
          <a:prstGeom prst="roundRect">
            <a:avLst/>
          </a:prstGeom>
          <a:solidFill>
            <a:srgbClr val="FF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59152"/>
            <a:ext cx="20116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F002A"/>
                </a:solidFill>
                <a:latin typeface="Aptos"/>
              </a:rPr>
              <a:t>NOT QUITE</a:t>
            </a:r>
            <a:endParaRPr sz="10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52628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“I arrived the station.”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55080" y="2240280"/>
            <a:ext cx="5074920" cy="1188720"/>
          </a:xfrm>
          <a:prstGeom prst="roundRect">
            <a:avLst/>
          </a:prstGeom>
          <a:solidFill>
            <a:srgbClr val="E1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359152"/>
            <a:ext cx="20116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7A79"/>
                </a:solidFill>
                <a:latin typeface="Aptos"/>
              </a:rPr>
              <a:t>SAY THIS</a:t>
            </a:r>
            <a:endParaRPr sz="10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1968" y="2651760"/>
            <a:ext cx="452628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“I arrived at the station.”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749039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7A79"/>
                </a:solidFill>
                <a:latin typeface="Aptos"/>
              </a:rPr>
              <a:t>THE COSY RULE</a:t>
            </a:r>
            <a:endParaRPr sz="11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050791"/>
            <a:ext cx="1046988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50707"/>
                </a:solidFill>
                <a:latin typeface="Aptos"/>
              </a:rPr>
              <a:t>Learn verbs in short patterns. Say “arrive at”, “listen to”, and “discuss something” (not “discuss about”).</a:t>
            </a:r>
            <a:endParaRPr sz="18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828032"/>
            <a:ext cx="21945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556464"/>
                </a:solidFill>
                <a:latin typeface="Aptos"/>
              </a:rPr>
              <a:t>MORE EXAMPLES</a:t>
            </a:r>
            <a:endParaRPr sz="10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050707"/>
                </a:solidFill>
                <a:latin typeface="Aptos"/>
              </a:rPr>
              <a:t>I reached the station.  •  I listened to music.  •  We discussed the problem.</a:t>
            </a:r>
            <a:endParaRPr sz="15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515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EF002A"/>
                </a:solidFill>
                <a:latin typeface="Aptos"/>
              </a:rPr>
              <a:t>YOUR TURN: Choose the correct sentence: A) We discussed about it.  B) We discussed it.  C) We listened it.</a:t>
            </a:r>
            <a:endParaRPr sz="13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57200"/>
            <a:ext cx="2240280" cy="347472"/>
          </a:xfrm>
          <a:prstGeom prst="roundRect">
            <a:avLst/>
          </a:prstGeom>
          <a:solidFill>
            <a:srgbClr val="007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0916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SATURDAY MISTAKES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6583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0" i="0">
                <a:solidFill>
                  <a:srgbClr val="050707"/>
                </a:solidFill>
                <a:latin typeface="Georgia" panose="02040502050405020303"/>
              </a:rPr>
              <a:t>Mistake 5: Preposition combinations</a:t>
            </a:r>
            <a:endParaRPr sz="30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944" y="1664208"/>
            <a:ext cx="1060704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56464"/>
                </a:solidFill>
                <a:latin typeface="Aptos"/>
              </a:rPr>
              <a:t>ENGLISH • Notice the pattern, not just the individual sentence.</a:t>
            </a:r>
            <a:endParaRPr sz="1400" b="0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2240280"/>
            <a:ext cx="5074920" cy="1188720"/>
          </a:xfrm>
          <a:prstGeom prst="roundRect">
            <a:avLst/>
          </a:prstGeom>
          <a:solidFill>
            <a:srgbClr val="FF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59152"/>
            <a:ext cx="20116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F002A"/>
                </a:solidFill>
                <a:latin typeface="Aptos"/>
              </a:rPr>
              <a:t>NOT QUITE</a:t>
            </a:r>
            <a:endParaRPr sz="10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52628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“It depends of you.”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55080" y="2240280"/>
            <a:ext cx="5074920" cy="1188720"/>
          </a:xfrm>
          <a:prstGeom prst="roundRect">
            <a:avLst/>
          </a:prstGeom>
          <a:solidFill>
            <a:srgbClr val="E1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359152"/>
            <a:ext cx="20116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7A79"/>
                </a:solidFill>
                <a:latin typeface="Aptos"/>
              </a:rPr>
              <a:t>SAY THIS</a:t>
            </a:r>
            <a:endParaRPr sz="10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1968" y="2651760"/>
            <a:ext cx="452628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“It depends on you.”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749039"/>
            <a:ext cx="20116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7A79"/>
                </a:solidFill>
                <a:latin typeface="Aptos"/>
              </a:rPr>
              <a:t>THE COSY RULE</a:t>
            </a:r>
            <a:endParaRPr sz="11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050791"/>
            <a:ext cx="1046988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50707"/>
                </a:solidFill>
                <a:latin typeface="Aptos"/>
              </a:rPr>
              <a:t>Learn the whole expression with its preposition; you can’t always guess it from the meaning.</a:t>
            </a:r>
            <a:endParaRPr sz="18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828032"/>
            <a:ext cx="219456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556464"/>
                </a:solidFill>
                <a:latin typeface="Aptos"/>
              </a:rPr>
              <a:t>MORE EXAMPLES</a:t>
            </a:r>
            <a:endParaRPr sz="10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050707"/>
                </a:solidFill>
                <a:latin typeface="Aptos"/>
              </a:rPr>
              <a:t>Interested in music.  •  Good at maths.  •  Afraid of spiders.  •  Wait for the bus.</a:t>
            </a:r>
            <a:endParaRPr sz="15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515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EF002A"/>
                </a:solidFill>
                <a:latin typeface="Aptos"/>
              </a:rPr>
              <a:t>YOUR TURN: I’m interested ___ learning French. A) on  B) in  C) at.</a:t>
            </a:r>
            <a:endParaRPr sz="13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7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(5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2148840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37560" y="1005840"/>
            <a:ext cx="7955279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0" i="0">
                <a:solidFill>
                  <a:srgbClr val="0AB8B1"/>
                </a:solidFill>
                <a:latin typeface="Georgia" panose="02040502050405020303"/>
              </a:rPr>
              <a:t>ON PASSE AU FRANÇAIS !</a:t>
            </a:r>
            <a:endParaRPr sz="2800" b="0" i="0">
              <a:solidFill>
                <a:srgbClr val="0AB8B1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83280" y="1828800"/>
            <a:ext cx="758952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 i="0">
                <a:solidFill>
                  <a:srgbClr val="FFFFFF"/>
                </a:solidFill>
                <a:latin typeface="Aptos"/>
              </a:rPr>
              <a:t>Cinq erreurs fréquentes, cinq réflexes simples.</a:t>
            </a:r>
            <a:endParaRPr sz="2000" b="0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29000" y="2743200"/>
            <a:ext cx="1188720" cy="73152"/>
          </a:xfrm>
          <a:prstGeom prst="rect">
            <a:avLst/>
          </a:prstGeom>
          <a:solidFill>
            <a:srgbClr val="EF0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3272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0" i="1">
                <a:solidFill>
                  <a:srgbClr val="FFFFFF"/>
                </a:solidFill>
                <a:latin typeface="Georgia" panose="02040502050405020303"/>
              </a:rPr>
              <a:t>Prenez une grande inspiration… et continuons ensemble.</a:t>
            </a:r>
            <a:endParaRPr sz="1900" b="0" i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PARTIE 2 • FRANÇAIS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57200"/>
            <a:ext cx="2240280" cy="347472"/>
          </a:xfrm>
          <a:prstGeom prst="roundRect">
            <a:avLst/>
          </a:prstGeom>
          <a:solidFill>
            <a:srgbClr val="007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0916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SATURDAY MISTAKES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040702"/>
            <a:ext cx="10881360" cy="49720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GB" sz="3000" b="0" i="0">
                <a:solidFill>
                  <a:srgbClr val="050707"/>
                </a:solidFill>
                <a:latin typeface="Georgia" panose="02040502050405020303"/>
              </a:rPr>
              <a:t>Faute </a:t>
            </a:r>
            <a:r>
              <a:rPr sz="3000" b="0" i="0">
                <a:solidFill>
                  <a:srgbClr val="050707"/>
                </a:solidFill>
                <a:latin typeface="Georgia" panose="02040502050405020303"/>
              </a:rPr>
              <a:t>6: Accord des adjectifs</a:t>
            </a:r>
            <a:endParaRPr sz="30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944" y="1730820"/>
            <a:ext cx="10607040" cy="25082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56464"/>
                </a:solidFill>
                <a:latin typeface="Aptos"/>
              </a:rPr>
              <a:t>FRANÇAIS • </a:t>
            </a:r>
            <a:r>
              <a:rPr lang="en-US" altLang="fr-FR" sz="1400" b="0" i="0">
                <a:solidFill>
                  <a:srgbClr val="556464"/>
                </a:solidFill>
                <a:latin typeface="Aptos"/>
              </a:rPr>
              <a:t>Remarquez le mod</a:t>
            </a:r>
            <a:r>
              <a:rPr lang="" altLang="en-US" sz="1400" b="0" i="0">
                <a:solidFill>
                  <a:srgbClr val="556464"/>
                </a:solidFill>
                <a:latin typeface="Aptos"/>
              </a:rPr>
              <a:t>è</a:t>
            </a:r>
            <a:r>
              <a:rPr lang="en-US" altLang="fr-FR" sz="1400" b="0" i="0">
                <a:solidFill>
                  <a:srgbClr val="556464"/>
                </a:solidFill>
                <a:latin typeface="Aptos"/>
              </a:rPr>
              <a:t>le, pas seulement la phrase individuelle.</a:t>
            </a:r>
            <a:endParaRPr lang="en-US" altLang="fr-FR" sz="1400" b="0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2240280"/>
            <a:ext cx="5074920" cy="1188720"/>
          </a:xfrm>
          <a:prstGeom prst="roundRect">
            <a:avLst/>
          </a:prstGeom>
          <a:solidFill>
            <a:srgbClr val="FF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78837"/>
            <a:ext cx="2011680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GB" sz="1000" b="1">
                <a:solidFill>
                  <a:srgbClr val="EF002A"/>
                </a:solidFill>
                <a:latin typeface="Aptos"/>
                <a:sym typeface="+mn-ea"/>
              </a:rPr>
              <a:t>B</a:t>
            </a:r>
            <a:r>
              <a:rPr sz="1000" b="1">
                <a:solidFill>
                  <a:srgbClr val="EF002A"/>
                </a:solidFill>
                <a:latin typeface="Aptos"/>
                <a:sym typeface="+mn-ea"/>
              </a:rPr>
              <a:t>O</a:t>
            </a:r>
            <a:r>
              <a:rPr lang="en-GB" sz="1000" b="1">
                <a:solidFill>
                  <a:srgbClr val="EF002A"/>
                </a:solidFill>
                <a:latin typeface="Aptos"/>
                <a:sym typeface="+mn-ea"/>
              </a:rPr>
              <a:t>F</a:t>
            </a:r>
            <a:endParaRPr sz="10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2578989"/>
            <a:ext cx="4526280" cy="712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“Je suis très heureux. (</a:t>
            </a:r>
            <a:r>
              <a:rPr lang="en-GB" sz="2200" b="0" i="0">
                <a:solidFill>
                  <a:srgbClr val="050707"/>
                </a:solidFill>
                <a:latin typeface="Georgia" panose="02040502050405020303"/>
              </a:rPr>
              <a:t>dit par</a:t>
            </a: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 Marie)”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55080" y="2240280"/>
            <a:ext cx="5074920" cy="1188720"/>
          </a:xfrm>
          <a:prstGeom prst="roundRect">
            <a:avLst/>
          </a:prstGeom>
          <a:solidFill>
            <a:srgbClr val="E1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378837"/>
            <a:ext cx="2011680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ru-RU" sz="1000" b="1">
                <a:solidFill>
                  <a:srgbClr val="007A79"/>
                </a:solidFill>
                <a:latin typeface="Aptos"/>
                <a:sym typeface="+mn-ea"/>
              </a:rPr>
              <a:t>О</a:t>
            </a:r>
            <a:r>
              <a:rPr lang="en-GB" altLang="ru-RU" sz="1000" b="1">
                <a:solidFill>
                  <a:srgbClr val="007A79"/>
                </a:solidFill>
                <a:latin typeface="Aptos"/>
                <a:sym typeface="+mn-ea"/>
              </a:rPr>
              <a:t>UAIS</a:t>
            </a:r>
            <a:endParaRPr lang="en-GB" sz="10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1968" y="2651760"/>
            <a:ext cx="452628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“Je suis très heureuse.”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783964"/>
            <a:ext cx="2011680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GB" sz="1100" b="1">
                <a:solidFill>
                  <a:srgbClr val="007A79"/>
                </a:solidFill>
                <a:latin typeface="Aptos"/>
                <a:sym typeface="+mn-ea"/>
              </a:rPr>
              <a:t>LE REGLE </a:t>
            </a:r>
            <a:r>
              <a:rPr sz="1100" b="1">
                <a:solidFill>
                  <a:srgbClr val="007A79"/>
                </a:solidFill>
                <a:latin typeface="Aptos"/>
                <a:sym typeface="+mn-ea"/>
              </a:rPr>
              <a:t>COSY </a:t>
            </a:r>
            <a:endParaRPr sz="11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050791"/>
            <a:ext cx="1046988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50707"/>
                </a:solidFill>
                <a:latin typeface="Aptos"/>
              </a:rPr>
              <a:t>L’adjectif s’accorde avec la personne ou la chose décrite. Apprenez souvent les deux formes ensemble.</a:t>
            </a:r>
            <a:endParaRPr sz="18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861433"/>
            <a:ext cx="2194560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altLang="fr-FR" sz="1000" b="1">
                <a:solidFill>
                  <a:srgbClr val="556464"/>
                </a:solidFill>
                <a:latin typeface="Aptos"/>
                <a:sym typeface="+mn-ea"/>
              </a:rPr>
              <a:t>PLUS D'EXEMPLES</a:t>
            </a:r>
            <a:endParaRPr sz="10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050707"/>
                </a:solidFill>
                <a:latin typeface="Aptos"/>
              </a:rPr>
              <a:t>Il est heureux / Elle est heureuse.  •  Il est content / Elle est contente.</a:t>
            </a:r>
            <a:endParaRPr sz="15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5770944"/>
            <a:ext cx="10515600" cy="23558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" altLang="en-US" sz="1300" b="1" i="0">
                <a:solidFill>
                  <a:srgbClr val="EF002A"/>
                </a:solidFill>
                <a:latin typeface="Aptos"/>
              </a:rPr>
              <a:t>À</a:t>
            </a:r>
            <a:r>
              <a:rPr lang="en-US" altLang="fr-FR" sz="1300" b="1" i="0">
                <a:solidFill>
                  <a:srgbClr val="EF002A"/>
                </a:solidFill>
                <a:latin typeface="Aptos"/>
              </a:rPr>
              <a:t> </a:t>
            </a:r>
            <a:r>
              <a:rPr lang="en-GB" altLang="en-US" sz="1300" b="1" i="0">
                <a:solidFill>
                  <a:srgbClr val="EF002A"/>
                </a:solidFill>
                <a:latin typeface="Aptos"/>
              </a:rPr>
              <a:t>V</a:t>
            </a:r>
            <a:r>
              <a:rPr lang="ru-RU" altLang="fr-FR" sz="1300" b="1" i="0">
                <a:solidFill>
                  <a:srgbClr val="EF002A"/>
                </a:solidFill>
                <a:latin typeface="Aptos"/>
              </a:rPr>
              <a:t>О</a:t>
            </a:r>
            <a:r>
              <a:rPr lang="en-GB" altLang="ru-RU" sz="1300" b="1" i="0">
                <a:solidFill>
                  <a:srgbClr val="EF002A"/>
                </a:solidFill>
                <a:latin typeface="Aptos"/>
              </a:rPr>
              <a:t>US DE J</a:t>
            </a:r>
            <a:r>
              <a:rPr lang="ru-RU" altLang="ru-RU" sz="1300" b="1" i="0">
                <a:solidFill>
                  <a:srgbClr val="EF002A"/>
                </a:solidFill>
                <a:latin typeface="Aptos"/>
              </a:rPr>
              <a:t>О</a:t>
            </a:r>
            <a:r>
              <a:rPr lang="en-GB" altLang="ru-RU" sz="1300" b="1" i="0">
                <a:solidFill>
                  <a:srgbClr val="EF002A"/>
                </a:solidFill>
                <a:latin typeface="Aptos"/>
              </a:rPr>
              <a:t>UER </a:t>
            </a:r>
            <a:r>
              <a:rPr sz="1300" b="1" i="0">
                <a:solidFill>
                  <a:srgbClr val="EF002A"/>
                </a:solidFill>
                <a:latin typeface="Aptos"/>
              </a:rPr>
              <a:t>: Ma sœur est très… A) heureux  B) heureuse  C) heureuses.</a:t>
            </a:r>
            <a:endParaRPr sz="13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57200"/>
            <a:ext cx="2240280" cy="347472"/>
          </a:xfrm>
          <a:prstGeom prst="roundRect">
            <a:avLst/>
          </a:prstGeom>
          <a:solidFill>
            <a:srgbClr val="007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0916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SATURDAY MISTAKES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040702"/>
            <a:ext cx="10881360" cy="49720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GB" sz="3000">
                <a:solidFill>
                  <a:srgbClr val="050707"/>
                </a:solidFill>
                <a:latin typeface="Georgia" panose="02040502050405020303"/>
                <a:sym typeface="+mn-ea"/>
              </a:rPr>
              <a:t>Faute </a:t>
            </a:r>
            <a:r>
              <a:rPr sz="3000" b="0" i="0">
                <a:solidFill>
                  <a:srgbClr val="050707"/>
                </a:solidFill>
                <a:latin typeface="Georgia" panose="02040502050405020303"/>
              </a:rPr>
              <a:t>7: Il faut / il fait</a:t>
            </a:r>
            <a:endParaRPr sz="30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944" y="1730820"/>
            <a:ext cx="10607040" cy="25082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56464"/>
                </a:solidFill>
                <a:latin typeface="Aptos"/>
              </a:rPr>
              <a:t>FRANÇAIS • </a:t>
            </a:r>
            <a:r>
              <a:rPr lang="en-US" altLang="fr-FR" sz="1400" b="0" i="0">
                <a:solidFill>
                  <a:srgbClr val="556464"/>
                </a:solidFill>
                <a:latin typeface="Aptos"/>
              </a:rPr>
              <a:t>Remarquez le mod</a:t>
            </a:r>
            <a:r>
              <a:rPr lang="" altLang="en-US" sz="1400" b="0" i="0">
                <a:solidFill>
                  <a:srgbClr val="556464"/>
                </a:solidFill>
                <a:latin typeface="Aptos"/>
              </a:rPr>
              <a:t>è</a:t>
            </a:r>
            <a:r>
              <a:rPr lang="en-US" altLang="fr-FR" sz="1400" b="0" i="0">
                <a:solidFill>
                  <a:srgbClr val="556464"/>
                </a:solidFill>
                <a:latin typeface="Aptos"/>
              </a:rPr>
              <a:t>le, pas seulement la phrase individuelle.</a:t>
            </a:r>
            <a:endParaRPr lang="en-US" altLang="fr-FR" sz="1400" b="0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2240280"/>
            <a:ext cx="5074920" cy="1188720"/>
          </a:xfrm>
          <a:prstGeom prst="roundRect">
            <a:avLst/>
          </a:prstGeom>
          <a:solidFill>
            <a:srgbClr val="FF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78837"/>
            <a:ext cx="2011680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GB" sz="1000" b="1">
                <a:solidFill>
                  <a:srgbClr val="EF002A"/>
                </a:solidFill>
                <a:latin typeface="Aptos"/>
                <a:sym typeface="+mn-ea"/>
              </a:rPr>
              <a:t>B</a:t>
            </a:r>
            <a:r>
              <a:rPr sz="1000" b="1">
                <a:solidFill>
                  <a:srgbClr val="EF002A"/>
                </a:solidFill>
                <a:latin typeface="Aptos"/>
                <a:sym typeface="+mn-ea"/>
              </a:rPr>
              <a:t>O</a:t>
            </a:r>
            <a:r>
              <a:rPr lang="en-GB" sz="1000" b="1">
                <a:solidFill>
                  <a:srgbClr val="EF002A"/>
                </a:solidFill>
                <a:latin typeface="Aptos"/>
                <a:sym typeface="+mn-ea"/>
              </a:rPr>
              <a:t>F</a:t>
            </a:r>
            <a:endParaRPr sz="10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52628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“Il fait manger avant de partir.”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55080" y="2240280"/>
            <a:ext cx="5074920" cy="1188720"/>
          </a:xfrm>
          <a:prstGeom prst="roundRect">
            <a:avLst/>
          </a:prstGeom>
          <a:solidFill>
            <a:srgbClr val="E1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378837"/>
            <a:ext cx="2011680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ru-RU" sz="1000" b="1">
                <a:solidFill>
                  <a:srgbClr val="007A79"/>
                </a:solidFill>
                <a:latin typeface="Aptos"/>
                <a:sym typeface="+mn-ea"/>
              </a:rPr>
              <a:t>О</a:t>
            </a:r>
            <a:r>
              <a:rPr lang="en-GB" altLang="ru-RU" sz="1000" b="1">
                <a:solidFill>
                  <a:srgbClr val="007A79"/>
                </a:solidFill>
                <a:latin typeface="Aptos"/>
                <a:sym typeface="+mn-ea"/>
              </a:rPr>
              <a:t>UAIS</a:t>
            </a:r>
            <a:endParaRPr sz="10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1968" y="2651760"/>
            <a:ext cx="452628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“Il faut manger avant de partir.”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783964"/>
            <a:ext cx="2011680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GB" sz="1100" b="1">
                <a:solidFill>
                  <a:srgbClr val="007A79"/>
                </a:solidFill>
                <a:latin typeface="Aptos"/>
                <a:sym typeface="+mn-ea"/>
              </a:rPr>
              <a:t>LE REGLE </a:t>
            </a:r>
            <a:r>
              <a:rPr sz="1100" b="1">
                <a:solidFill>
                  <a:srgbClr val="007A79"/>
                </a:solidFill>
                <a:latin typeface="Aptos"/>
                <a:sym typeface="+mn-ea"/>
              </a:rPr>
              <a:t>COSY </a:t>
            </a:r>
            <a:endParaRPr sz="11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050791"/>
            <a:ext cx="1046988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50707"/>
                </a:solidFill>
                <a:latin typeface="Aptos"/>
              </a:rPr>
              <a:t>“Il faut + infinitif” exprime une nécessité. “Faire + infinitif” peut signifier faire réaliser une action.</a:t>
            </a:r>
            <a:endParaRPr sz="18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861433"/>
            <a:ext cx="2194560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altLang="fr-FR" sz="1000" b="1">
                <a:solidFill>
                  <a:srgbClr val="556464"/>
                </a:solidFill>
                <a:latin typeface="Aptos"/>
                <a:sym typeface="+mn-ea"/>
              </a:rPr>
              <a:t>PLUS D'EXEMPLES</a:t>
            </a:r>
            <a:endParaRPr sz="10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050707"/>
                </a:solidFill>
                <a:latin typeface="Aptos"/>
              </a:rPr>
              <a:t>Il faut dormir.  •  Il faut boire de l’eau.  •  Le professeur fait lire le texte aux étudiants.</a:t>
            </a:r>
            <a:endParaRPr sz="15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5770944"/>
            <a:ext cx="10515600" cy="23558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altLang="en-US" sz="1300" b="1">
                <a:solidFill>
                  <a:srgbClr val="EF002A"/>
                </a:solidFill>
                <a:latin typeface="Aptos"/>
                <a:sym typeface="+mn-ea"/>
              </a:rPr>
              <a:t>À</a:t>
            </a:r>
            <a:r>
              <a:rPr lang="en-US" altLang="fr-FR" sz="1300" b="1">
                <a:solidFill>
                  <a:srgbClr val="EF002A"/>
                </a:solidFill>
                <a:latin typeface="Aptos"/>
                <a:sym typeface="+mn-ea"/>
              </a:rPr>
              <a:t> </a:t>
            </a:r>
            <a:r>
              <a:rPr lang="en-GB" altLang="en-US" sz="1300" b="1">
                <a:solidFill>
                  <a:srgbClr val="EF002A"/>
                </a:solidFill>
                <a:latin typeface="Aptos"/>
                <a:sym typeface="+mn-ea"/>
              </a:rPr>
              <a:t>V</a:t>
            </a:r>
            <a:r>
              <a:rPr lang="ru-RU" altLang="fr-FR" sz="1300" b="1">
                <a:solidFill>
                  <a:srgbClr val="EF002A"/>
                </a:solidFill>
                <a:latin typeface="Aptos"/>
                <a:sym typeface="+mn-ea"/>
              </a:rPr>
              <a:t>О</a:t>
            </a:r>
            <a:r>
              <a:rPr lang="en-GB" altLang="ru-RU" sz="1300" b="1">
                <a:solidFill>
                  <a:srgbClr val="EF002A"/>
                </a:solidFill>
                <a:latin typeface="Aptos"/>
                <a:sym typeface="+mn-ea"/>
              </a:rPr>
              <a:t>US DE J</a:t>
            </a:r>
            <a:r>
              <a:rPr lang="ru-RU" altLang="ru-RU" sz="1300" b="1">
                <a:solidFill>
                  <a:srgbClr val="EF002A"/>
                </a:solidFill>
                <a:latin typeface="Aptos"/>
                <a:sym typeface="+mn-ea"/>
              </a:rPr>
              <a:t>О</a:t>
            </a:r>
            <a:r>
              <a:rPr lang="en-GB" altLang="ru-RU" sz="1300" b="1">
                <a:solidFill>
                  <a:srgbClr val="EF002A"/>
                </a:solidFill>
                <a:latin typeface="Aptos"/>
                <a:sym typeface="+mn-ea"/>
              </a:rPr>
              <a:t>UER </a:t>
            </a:r>
            <a:r>
              <a:rPr sz="1300" b="1" i="0">
                <a:solidFill>
                  <a:srgbClr val="EF002A"/>
                </a:solidFill>
                <a:latin typeface="Aptos"/>
              </a:rPr>
              <a:t>: Il est nécessaire de se reposer : A) Il fait se reposer.  B) Il faut se reposer.  C) Il faut se repose.</a:t>
            </a:r>
            <a:endParaRPr sz="13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57200"/>
            <a:ext cx="2240280" cy="347472"/>
          </a:xfrm>
          <a:prstGeom prst="roundRect">
            <a:avLst/>
          </a:prstGeom>
          <a:solidFill>
            <a:srgbClr val="007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0916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SATURDAY MISTAKES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040702"/>
            <a:ext cx="10881360" cy="49720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GB" sz="3000">
                <a:solidFill>
                  <a:srgbClr val="050707"/>
                </a:solidFill>
                <a:latin typeface="Georgia" panose="02040502050405020303"/>
                <a:sym typeface="+mn-ea"/>
              </a:rPr>
              <a:t>Faute </a:t>
            </a:r>
            <a:r>
              <a:rPr sz="3000" b="0" i="0">
                <a:solidFill>
                  <a:srgbClr val="050707"/>
                </a:solidFill>
                <a:latin typeface="Georgia" panose="02040502050405020303"/>
              </a:rPr>
              <a:t>8: Étrange / étranger</a:t>
            </a:r>
            <a:endParaRPr sz="30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944" y="1730820"/>
            <a:ext cx="10607040" cy="25082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56464"/>
                </a:solidFill>
                <a:latin typeface="Aptos"/>
              </a:rPr>
              <a:t>FRANÇAIS •</a:t>
            </a:r>
            <a:r>
              <a:rPr lang="en-GB" sz="1400" b="0" i="0">
                <a:solidFill>
                  <a:srgbClr val="556464"/>
                </a:solidFill>
                <a:latin typeface="Aptos"/>
              </a:rPr>
              <a:t> </a:t>
            </a:r>
            <a:r>
              <a:rPr lang="en-US" altLang="fr-FR" sz="1400" b="0" i="0">
                <a:solidFill>
                  <a:srgbClr val="556464"/>
                </a:solidFill>
                <a:latin typeface="Aptos"/>
              </a:rPr>
              <a:t>Remarquez le mod</a:t>
            </a:r>
            <a:r>
              <a:rPr lang="" altLang="en-US" sz="1400" b="0" i="0">
                <a:solidFill>
                  <a:srgbClr val="556464"/>
                </a:solidFill>
                <a:latin typeface="Aptos"/>
              </a:rPr>
              <a:t>è</a:t>
            </a:r>
            <a:r>
              <a:rPr lang="en-US" altLang="fr-FR" sz="1400" b="0" i="0">
                <a:solidFill>
                  <a:srgbClr val="556464"/>
                </a:solidFill>
                <a:latin typeface="Aptos"/>
              </a:rPr>
              <a:t>le, pas seulement la phrase individuelle.</a:t>
            </a:r>
            <a:endParaRPr lang="en-US" altLang="fr-FR" sz="1400" b="0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2240280"/>
            <a:ext cx="5074920" cy="1188720"/>
          </a:xfrm>
          <a:prstGeom prst="roundRect">
            <a:avLst/>
          </a:prstGeom>
          <a:solidFill>
            <a:srgbClr val="FF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78837"/>
            <a:ext cx="2011680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GB" sz="1000" b="1">
                <a:solidFill>
                  <a:srgbClr val="EF002A"/>
                </a:solidFill>
                <a:latin typeface="Aptos"/>
                <a:sym typeface="+mn-ea"/>
              </a:rPr>
              <a:t>B</a:t>
            </a:r>
            <a:r>
              <a:rPr sz="1000" b="1">
                <a:solidFill>
                  <a:srgbClr val="EF002A"/>
                </a:solidFill>
                <a:latin typeface="Aptos"/>
                <a:sym typeface="+mn-ea"/>
              </a:rPr>
              <a:t>O</a:t>
            </a:r>
            <a:r>
              <a:rPr lang="en-GB" sz="1000" b="1">
                <a:solidFill>
                  <a:srgbClr val="EF002A"/>
                </a:solidFill>
                <a:latin typeface="Aptos"/>
                <a:sym typeface="+mn-ea"/>
              </a:rPr>
              <a:t>F</a:t>
            </a:r>
            <a:endParaRPr sz="10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52628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“Un ami étrange (to mean from another country)”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55080" y="2240280"/>
            <a:ext cx="5074920" cy="1188720"/>
          </a:xfrm>
          <a:prstGeom prst="roundRect">
            <a:avLst/>
          </a:prstGeom>
          <a:solidFill>
            <a:srgbClr val="E1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378837"/>
            <a:ext cx="2011680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ru-RU" sz="1000" b="1">
                <a:solidFill>
                  <a:srgbClr val="007A79"/>
                </a:solidFill>
                <a:latin typeface="Aptos"/>
                <a:sym typeface="+mn-ea"/>
              </a:rPr>
              <a:t>О</a:t>
            </a:r>
            <a:r>
              <a:rPr lang="en-GB" altLang="ru-RU" sz="1000" b="1">
                <a:solidFill>
                  <a:srgbClr val="007A79"/>
                </a:solidFill>
                <a:latin typeface="Aptos"/>
                <a:sym typeface="+mn-ea"/>
              </a:rPr>
              <a:t>UAIS</a:t>
            </a:r>
            <a:endParaRPr sz="10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1968" y="2651760"/>
            <a:ext cx="452628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“Un ami étranger.”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783964"/>
            <a:ext cx="2011680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GB" sz="1100" b="1">
                <a:solidFill>
                  <a:srgbClr val="007A79"/>
                </a:solidFill>
                <a:latin typeface="Aptos"/>
                <a:sym typeface="+mn-ea"/>
              </a:rPr>
              <a:t>LE REGLE </a:t>
            </a:r>
            <a:r>
              <a:rPr sz="1100" b="1">
                <a:solidFill>
                  <a:srgbClr val="007A79"/>
                </a:solidFill>
                <a:latin typeface="Aptos"/>
                <a:sym typeface="+mn-ea"/>
              </a:rPr>
              <a:t>COSY </a:t>
            </a:r>
            <a:endParaRPr sz="11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050791"/>
            <a:ext cx="1046988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50707"/>
                </a:solidFill>
                <a:latin typeface="Aptos"/>
              </a:rPr>
              <a:t>“Étrange” signifie bizarre ou inhabituel. “Étranger” parle d’une origine ou d’une nationalité, selon le contexte.</a:t>
            </a:r>
            <a:endParaRPr sz="18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861433"/>
            <a:ext cx="2194560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altLang="fr-FR" sz="1000" b="1">
                <a:solidFill>
                  <a:srgbClr val="556464"/>
                </a:solidFill>
                <a:latin typeface="Aptos"/>
                <a:sym typeface="+mn-ea"/>
              </a:rPr>
              <a:t>PLUS D'EXEMPLES</a:t>
            </a:r>
            <a:endParaRPr sz="10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050707"/>
                </a:solidFill>
                <a:latin typeface="Aptos"/>
              </a:rPr>
              <a:t>Un bruit étrange.  •  Un étudiant étranger.  •  Un comportement étrange.</a:t>
            </a:r>
            <a:endParaRPr sz="15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5770944"/>
            <a:ext cx="10515600" cy="23558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altLang="en-US" sz="1300" b="1">
                <a:solidFill>
                  <a:srgbClr val="EF002A"/>
                </a:solidFill>
                <a:latin typeface="Aptos"/>
                <a:sym typeface="+mn-ea"/>
              </a:rPr>
              <a:t>À</a:t>
            </a:r>
            <a:r>
              <a:rPr lang="en-US" altLang="fr-FR" sz="1300" b="1">
                <a:solidFill>
                  <a:srgbClr val="EF002A"/>
                </a:solidFill>
                <a:latin typeface="Aptos"/>
                <a:sym typeface="+mn-ea"/>
              </a:rPr>
              <a:t> </a:t>
            </a:r>
            <a:r>
              <a:rPr lang="en-GB" altLang="en-US" sz="1300" b="1">
                <a:solidFill>
                  <a:srgbClr val="EF002A"/>
                </a:solidFill>
                <a:latin typeface="Aptos"/>
                <a:sym typeface="+mn-ea"/>
              </a:rPr>
              <a:t>V</a:t>
            </a:r>
            <a:r>
              <a:rPr lang="ru-RU" altLang="fr-FR" sz="1300" b="1">
                <a:solidFill>
                  <a:srgbClr val="EF002A"/>
                </a:solidFill>
                <a:latin typeface="Aptos"/>
                <a:sym typeface="+mn-ea"/>
              </a:rPr>
              <a:t>О</a:t>
            </a:r>
            <a:r>
              <a:rPr lang="en-GB" altLang="ru-RU" sz="1300" b="1">
                <a:solidFill>
                  <a:srgbClr val="EF002A"/>
                </a:solidFill>
                <a:latin typeface="Aptos"/>
                <a:sym typeface="+mn-ea"/>
              </a:rPr>
              <a:t>US DE J</a:t>
            </a:r>
            <a:r>
              <a:rPr lang="ru-RU" altLang="ru-RU" sz="1300" b="1">
                <a:solidFill>
                  <a:srgbClr val="EF002A"/>
                </a:solidFill>
                <a:latin typeface="Aptos"/>
                <a:sym typeface="+mn-ea"/>
              </a:rPr>
              <a:t>О</a:t>
            </a:r>
            <a:r>
              <a:rPr lang="en-GB" altLang="ru-RU" sz="1300" b="1">
                <a:solidFill>
                  <a:srgbClr val="EF002A"/>
                </a:solidFill>
                <a:latin typeface="Aptos"/>
                <a:sym typeface="+mn-ea"/>
              </a:rPr>
              <a:t>UER </a:t>
            </a:r>
            <a:r>
              <a:rPr sz="1300" b="1" i="0">
                <a:solidFill>
                  <a:srgbClr val="EF002A"/>
                </a:solidFill>
                <a:latin typeface="Aptos"/>
              </a:rPr>
              <a:t>: Un étudiant qui vient du Japon : A) étrange  B) étranger  C) étrangère.</a:t>
            </a:r>
            <a:endParaRPr sz="13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57200"/>
            <a:ext cx="2240280" cy="347472"/>
          </a:xfrm>
          <a:prstGeom prst="roundRect">
            <a:avLst/>
          </a:prstGeom>
          <a:solidFill>
            <a:srgbClr val="007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0916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SATURDAY MISTAKES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040702"/>
            <a:ext cx="10881360" cy="49720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GB" sz="3000">
                <a:solidFill>
                  <a:srgbClr val="050707"/>
                </a:solidFill>
                <a:latin typeface="Georgia" panose="02040502050405020303"/>
                <a:sym typeface="+mn-ea"/>
              </a:rPr>
              <a:t>Faute </a:t>
            </a:r>
            <a:r>
              <a:rPr sz="3000" b="0" i="0">
                <a:solidFill>
                  <a:srgbClr val="050707"/>
                </a:solidFill>
                <a:latin typeface="Georgia" panose="02040502050405020303"/>
              </a:rPr>
              <a:t>9: Le petit de</a:t>
            </a:r>
            <a:endParaRPr sz="30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944" y="1730820"/>
            <a:ext cx="10607040" cy="25082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56464"/>
                </a:solidFill>
                <a:latin typeface="Aptos"/>
              </a:rPr>
              <a:t>FRANÇAIS • </a:t>
            </a:r>
            <a:r>
              <a:rPr lang="en-US" altLang="fr-FR" sz="1400" b="0" i="0">
                <a:solidFill>
                  <a:srgbClr val="556464"/>
                </a:solidFill>
                <a:latin typeface="Aptos"/>
              </a:rPr>
              <a:t>Remarquez le mod</a:t>
            </a:r>
            <a:r>
              <a:rPr lang="" altLang="en-US" sz="1400" b="0" i="0">
                <a:solidFill>
                  <a:srgbClr val="556464"/>
                </a:solidFill>
                <a:latin typeface="Aptos"/>
              </a:rPr>
              <a:t>è</a:t>
            </a:r>
            <a:r>
              <a:rPr lang="en-US" altLang="fr-FR" sz="1400" b="0" i="0">
                <a:solidFill>
                  <a:srgbClr val="556464"/>
                </a:solidFill>
                <a:latin typeface="Aptos"/>
              </a:rPr>
              <a:t>le, pas seulement la phrase individuelle.</a:t>
            </a:r>
            <a:endParaRPr lang="en-US" altLang="fr-FR" sz="1400" b="0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2240280"/>
            <a:ext cx="5074920" cy="1188720"/>
          </a:xfrm>
          <a:prstGeom prst="roundRect">
            <a:avLst/>
          </a:prstGeom>
          <a:solidFill>
            <a:srgbClr val="FF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78837"/>
            <a:ext cx="2011680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GB" sz="1000" b="1">
                <a:solidFill>
                  <a:srgbClr val="EF002A"/>
                </a:solidFill>
                <a:latin typeface="Aptos"/>
                <a:sym typeface="+mn-ea"/>
              </a:rPr>
              <a:t>B</a:t>
            </a:r>
            <a:r>
              <a:rPr sz="1000" b="1">
                <a:solidFill>
                  <a:srgbClr val="EF002A"/>
                </a:solidFill>
                <a:latin typeface="Aptos"/>
                <a:sym typeface="+mn-ea"/>
              </a:rPr>
              <a:t>O</a:t>
            </a:r>
            <a:r>
              <a:rPr lang="en-GB" sz="1000" b="1">
                <a:solidFill>
                  <a:srgbClr val="EF002A"/>
                </a:solidFill>
                <a:latin typeface="Aptos"/>
                <a:sym typeface="+mn-ea"/>
              </a:rPr>
              <a:t>F</a:t>
            </a:r>
            <a:endParaRPr sz="10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52628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“Je veux avoir assez argent.”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55080" y="2240280"/>
            <a:ext cx="5074920" cy="1188720"/>
          </a:xfrm>
          <a:prstGeom prst="roundRect">
            <a:avLst/>
          </a:prstGeom>
          <a:solidFill>
            <a:srgbClr val="E1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378837"/>
            <a:ext cx="2011680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ru-RU" sz="1000" b="1">
                <a:solidFill>
                  <a:srgbClr val="007A79"/>
                </a:solidFill>
                <a:latin typeface="Aptos"/>
                <a:sym typeface="+mn-ea"/>
              </a:rPr>
              <a:t>О</a:t>
            </a:r>
            <a:r>
              <a:rPr lang="en-GB" altLang="ru-RU" sz="1000" b="1">
                <a:solidFill>
                  <a:srgbClr val="007A79"/>
                </a:solidFill>
                <a:latin typeface="Aptos"/>
                <a:sym typeface="+mn-ea"/>
              </a:rPr>
              <a:t>UAIS</a:t>
            </a:r>
            <a:endParaRPr sz="10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1968" y="2651760"/>
            <a:ext cx="452628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“Je veux avoir assez d’argent.”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783964"/>
            <a:ext cx="2011680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GB" sz="1100" b="1">
                <a:solidFill>
                  <a:srgbClr val="007A79"/>
                </a:solidFill>
                <a:latin typeface="Aptos"/>
                <a:sym typeface="+mn-ea"/>
              </a:rPr>
              <a:t>LE REGLE </a:t>
            </a:r>
            <a:r>
              <a:rPr sz="1100" b="1">
                <a:solidFill>
                  <a:srgbClr val="007A79"/>
                </a:solidFill>
                <a:latin typeface="Aptos"/>
                <a:sym typeface="+mn-ea"/>
              </a:rPr>
              <a:t>COSY </a:t>
            </a:r>
            <a:endParaRPr sz="11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050791"/>
            <a:ext cx="1046988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50707"/>
                </a:solidFill>
                <a:latin typeface="Aptos"/>
              </a:rPr>
              <a:t>Après beaucoup de mots de quantité, on utilise “de” ou “d’” devant le nom : beaucoup de, trop de, assez de.</a:t>
            </a:r>
            <a:endParaRPr sz="18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861433"/>
            <a:ext cx="2194560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altLang="fr-FR" sz="1000" b="1">
                <a:solidFill>
                  <a:srgbClr val="556464"/>
                </a:solidFill>
                <a:latin typeface="Aptos"/>
                <a:sym typeface="+mn-ea"/>
              </a:rPr>
              <a:t>PLUS D'EXEMPLES</a:t>
            </a:r>
            <a:endParaRPr sz="10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5156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050707"/>
                </a:solidFill>
                <a:latin typeface="Aptos"/>
              </a:rPr>
              <a:t>Beaucoup de travail.  •  Assez de temps.  •  Beaucoup d’eau.  •  Peu de patience.</a:t>
            </a:r>
            <a:endParaRPr sz="15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5770944"/>
            <a:ext cx="10515600" cy="23558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altLang="en-US" sz="1300" b="1">
                <a:solidFill>
                  <a:srgbClr val="EF002A"/>
                </a:solidFill>
                <a:latin typeface="Aptos"/>
                <a:sym typeface="+mn-ea"/>
              </a:rPr>
              <a:t>À</a:t>
            </a:r>
            <a:r>
              <a:rPr lang="en-US" altLang="fr-FR" sz="1300" b="1">
                <a:solidFill>
                  <a:srgbClr val="EF002A"/>
                </a:solidFill>
                <a:latin typeface="Aptos"/>
                <a:sym typeface="+mn-ea"/>
              </a:rPr>
              <a:t> </a:t>
            </a:r>
            <a:r>
              <a:rPr lang="en-GB" altLang="en-US" sz="1300" b="1">
                <a:solidFill>
                  <a:srgbClr val="EF002A"/>
                </a:solidFill>
                <a:latin typeface="Aptos"/>
                <a:sym typeface="+mn-ea"/>
              </a:rPr>
              <a:t>V</a:t>
            </a:r>
            <a:r>
              <a:rPr lang="ru-RU" altLang="fr-FR" sz="1300" b="1">
                <a:solidFill>
                  <a:srgbClr val="EF002A"/>
                </a:solidFill>
                <a:latin typeface="Aptos"/>
                <a:sym typeface="+mn-ea"/>
              </a:rPr>
              <a:t>О</a:t>
            </a:r>
            <a:r>
              <a:rPr lang="en-GB" altLang="ru-RU" sz="1300" b="1">
                <a:solidFill>
                  <a:srgbClr val="EF002A"/>
                </a:solidFill>
                <a:latin typeface="Aptos"/>
                <a:sym typeface="+mn-ea"/>
              </a:rPr>
              <a:t>US DE J</a:t>
            </a:r>
            <a:r>
              <a:rPr lang="ru-RU" altLang="ru-RU" sz="1300" b="1">
                <a:solidFill>
                  <a:srgbClr val="EF002A"/>
                </a:solidFill>
                <a:latin typeface="Aptos"/>
                <a:sym typeface="+mn-ea"/>
              </a:rPr>
              <a:t>О</a:t>
            </a:r>
            <a:r>
              <a:rPr lang="en-GB" altLang="ru-RU" sz="1300" b="1">
                <a:solidFill>
                  <a:srgbClr val="EF002A"/>
                </a:solidFill>
                <a:latin typeface="Aptos"/>
                <a:sym typeface="+mn-ea"/>
              </a:rPr>
              <a:t>UER </a:t>
            </a:r>
            <a:r>
              <a:rPr sz="1300" b="1" i="0">
                <a:solidFill>
                  <a:srgbClr val="EF002A"/>
                </a:solidFill>
                <a:latin typeface="Aptos"/>
              </a:rPr>
              <a:t>: Beaucoup ___ eau : A) de  B) d’  C) des.</a:t>
            </a:r>
            <a:endParaRPr sz="13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57200"/>
            <a:ext cx="2240280" cy="347472"/>
          </a:xfrm>
          <a:prstGeom prst="roundRect">
            <a:avLst/>
          </a:prstGeom>
          <a:solidFill>
            <a:srgbClr val="007A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70916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SATURDAY MISTAKES</a:t>
            </a:r>
            <a:endParaRPr sz="10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040702"/>
            <a:ext cx="10881360" cy="49720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GB" sz="3000">
                <a:solidFill>
                  <a:srgbClr val="050707"/>
                </a:solidFill>
                <a:latin typeface="Georgia" panose="02040502050405020303"/>
                <a:sym typeface="+mn-ea"/>
              </a:rPr>
              <a:t>Faute </a:t>
            </a:r>
            <a:r>
              <a:rPr sz="3000" b="0" i="0">
                <a:solidFill>
                  <a:srgbClr val="050707"/>
                </a:solidFill>
                <a:latin typeface="Georgia" panose="02040502050405020303"/>
              </a:rPr>
              <a:t>10: Choisir le bon temps</a:t>
            </a:r>
            <a:endParaRPr sz="30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944" y="1730820"/>
            <a:ext cx="10607040" cy="25082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556464"/>
                </a:solidFill>
                <a:latin typeface="Aptos"/>
              </a:rPr>
              <a:t>FRANÇAIS • </a:t>
            </a:r>
            <a:r>
              <a:rPr lang="en-US" altLang="fr-FR" sz="1400" b="0" i="0">
                <a:solidFill>
                  <a:srgbClr val="556464"/>
                </a:solidFill>
                <a:latin typeface="Aptos"/>
              </a:rPr>
              <a:t>Remarquez le mod</a:t>
            </a:r>
            <a:r>
              <a:rPr lang="" altLang="en-US" sz="1400" b="0" i="0">
                <a:solidFill>
                  <a:srgbClr val="556464"/>
                </a:solidFill>
                <a:latin typeface="Aptos"/>
              </a:rPr>
              <a:t>è</a:t>
            </a:r>
            <a:r>
              <a:rPr lang="en-US" altLang="fr-FR" sz="1400" b="0" i="0">
                <a:solidFill>
                  <a:srgbClr val="556464"/>
                </a:solidFill>
                <a:latin typeface="Aptos"/>
              </a:rPr>
              <a:t>le, pas seulement la phrase individuelle.</a:t>
            </a:r>
            <a:endParaRPr lang="en-US" altLang="fr-FR" sz="1400" b="0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2240280"/>
            <a:ext cx="5074920" cy="1188720"/>
          </a:xfrm>
          <a:prstGeom prst="roundRect">
            <a:avLst/>
          </a:prstGeom>
          <a:solidFill>
            <a:srgbClr val="FF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78837"/>
            <a:ext cx="2011680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GB" sz="1000" b="1" i="0">
                <a:solidFill>
                  <a:srgbClr val="EF002A"/>
                </a:solidFill>
                <a:latin typeface="Aptos"/>
              </a:rPr>
              <a:t>B</a:t>
            </a:r>
            <a:r>
              <a:rPr sz="1000" b="1" i="0">
                <a:solidFill>
                  <a:srgbClr val="EF002A"/>
                </a:solidFill>
                <a:latin typeface="Aptos"/>
              </a:rPr>
              <a:t>O</a:t>
            </a:r>
            <a:r>
              <a:rPr lang="en-GB" sz="1000" b="1" i="0">
                <a:solidFill>
                  <a:srgbClr val="EF002A"/>
                </a:solidFill>
                <a:latin typeface="Aptos"/>
              </a:rPr>
              <a:t>F</a:t>
            </a:r>
            <a:endParaRPr sz="10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52628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“Hier soir, je regarde un film.”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55080" y="2240280"/>
            <a:ext cx="5074920" cy="1188720"/>
          </a:xfrm>
          <a:prstGeom prst="roundRect">
            <a:avLst/>
          </a:prstGeom>
          <a:solidFill>
            <a:srgbClr val="E1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378837"/>
            <a:ext cx="2011680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ru-RU" sz="1000" b="1">
                <a:solidFill>
                  <a:srgbClr val="007A79"/>
                </a:solidFill>
                <a:latin typeface="Aptos"/>
                <a:sym typeface="+mn-ea"/>
              </a:rPr>
              <a:t>О</a:t>
            </a:r>
            <a:r>
              <a:rPr lang="en-GB" altLang="ru-RU" sz="1000" b="1">
                <a:solidFill>
                  <a:srgbClr val="007A79"/>
                </a:solidFill>
                <a:latin typeface="Aptos"/>
                <a:sym typeface="+mn-ea"/>
              </a:rPr>
              <a:t>UAIS</a:t>
            </a:r>
            <a:endParaRPr sz="10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1968" y="2651760"/>
            <a:ext cx="4526280" cy="56692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050707"/>
                </a:solidFill>
                <a:latin typeface="Georgia" panose="02040502050405020303"/>
              </a:rPr>
              <a:t>“Hier soir, j’ai regardé un film.”</a:t>
            </a:r>
            <a:endParaRPr sz="2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783964"/>
            <a:ext cx="2011680" cy="20447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GB" sz="1100" b="1" i="0">
                <a:solidFill>
                  <a:srgbClr val="007A79"/>
                </a:solidFill>
                <a:latin typeface="Aptos"/>
              </a:rPr>
              <a:t>LE REGLE </a:t>
            </a:r>
            <a:r>
              <a:rPr sz="1100" b="1" i="0">
                <a:solidFill>
                  <a:srgbClr val="007A79"/>
                </a:solidFill>
                <a:latin typeface="Aptos"/>
              </a:rPr>
              <a:t>COSY </a:t>
            </a:r>
            <a:endParaRPr sz="1100" b="1" i="0">
              <a:solidFill>
                <a:srgbClr val="007A79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050791"/>
            <a:ext cx="1046988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050707"/>
                </a:solidFill>
                <a:latin typeface="Aptos"/>
              </a:rPr>
              <a:t>Choisissez le temps selon le moment et le sens : habitude = présent ; projet = futur proche ; action terminée = passé composé.</a:t>
            </a:r>
            <a:endParaRPr sz="18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861433"/>
            <a:ext cx="2194560" cy="18923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altLang="fr-FR" sz="1000" b="1" i="0">
                <a:solidFill>
                  <a:srgbClr val="556464"/>
                </a:solidFill>
                <a:latin typeface="Aptos"/>
              </a:rPr>
              <a:t>PLUS D'EXEMPLES</a:t>
            </a:r>
            <a:endParaRPr lang="en-US" altLang="fr-FR" sz="10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5193348"/>
            <a:ext cx="10515600" cy="2660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050707"/>
                </a:solidFill>
                <a:latin typeface="Aptos"/>
              </a:rPr>
              <a:t>Je </a:t>
            </a:r>
            <a:r>
              <a:rPr sz="1500" b="1" i="0">
                <a:solidFill>
                  <a:srgbClr val="050707"/>
                </a:solidFill>
                <a:latin typeface="Aptos"/>
              </a:rPr>
              <a:t>regarde </a:t>
            </a:r>
            <a:r>
              <a:rPr sz="1500" b="0" i="0">
                <a:solidFill>
                  <a:srgbClr val="050707"/>
                </a:solidFill>
                <a:latin typeface="Aptos"/>
              </a:rPr>
              <a:t>mes e-mails le soir.  •  Je </a:t>
            </a:r>
            <a:r>
              <a:rPr sz="1500" b="1" i="0">
                <a:solidFill>
                  <a:srgbClr val="050707"/>
                </a:solidFill>
                <a:latin typeface="Aptos"/>
              </a:rPr>
              <a:t>vais regarder </a:t>
            </a:r>
            <a:r>
              <a:rPr sz="1500" b="0" i="0">
                <a:solidFill>
                  <a:srgbClr val="050707"/>
                </a:solidFill>
                <a:latin typeface="Aptos"/>
              </a:rPr>
              <a:t>mes e-mails.  •  J’</a:t>
            </a:r>
            <a:r>
              <a:rPr sz="1500" b="1" i="0">
                <a:solidFill>
                  <a:srgbClr val="050707"/>
                </a:solidFill>
                <a:latin typeface="Aptos"/>
              </a:rPr>
              <a:t>ai</a:t>
            </a:r>
            <a:r>
              <a:rPr sz="1500" b="0" i="0">
                <a:solidFill>
                  <a:srgbClr val="050707"/>
                </a:solidFill>
                <a:latin typeface="Aptos"/>
              </a:rPr>
              <a:t> </a:t>
            </a:r>
            <a:r>
              <a:rPr sz="1500" b="1" i="0">
                <a:solidFill>
                  <a:srgbClr val="050707"/>
                </a:solidFill>
                <a:latin typeface="Aptos"/>
              </a:rPr>
              <a:t>regardé </a:t>
            </a:r>
            <a:r>
              <a:rPr sz="1500" b="0" i="0">
                <a:solidFill>
                  <a:srgbClr val="050707"/>
                </a:solidFill>
                <a:latin typeface="Aptos"/>
              </a:rPr>
              <a:t>mes e-mails hier.</a:t>
            </a:r>
            <a:endParaRPr sz="15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5770944"/>
            <a:ext cx="10515600" cy="23558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altLang="en-US" sz="1300" b="1">
                <a:solidFill>
                  <a:srgbClr val="EF002A"/>
                </a:solidFill>
                <a:latin typeface="Aptos"/>
                <a:sym typeface="+mn-ea"/>
              </a:rPr>
              <a:t>À</a:t>
            </a:r>
            <a:r>
              <a:rPr lang="en-US" altLang="fr-FR" sz="1300" b="1">
                <a:solidFill>
                  <a:srgbClr val="EF002A"/>
                </a:solidFill>
                <a:latin typeface="Aptos"/>
                <a:sym typeface="+mn-ea"/>
              </a:rPr>
              <a:t> </a:t>
            </a:r>
            <a:r>
              <a:rPr lang="en-GB" altLang="en-US" sz="1300" b="1">
                <a:solidFill>
                  <a:srgbClr val="EF002A"/>
                </a:solidFill>
                <a:latin typeface="Aptos"/>
                <a:sym typeface="+mn-ea"/>
              </a:rPr>
              <a:t>V</a:t>
            </a:r>
            <a:r>
              <a:rPr lang="ru-RU" altLang="fr-FR" sz="1300" b="1">
                <a:solidFill>
                  <a:srgbClr val="EF002A"/>
                </a:solidFill>
                <a:latin typeface="Aptos"/>
                <a:sym typeface="+mn-ea"/>
              </a:rPr>
              <a:t>О</a:t>
            </a:r>
            <a:r>
              <a:rPr lang="en-GB" altLang="ru-RU" sz="1300" b="1">
                <a:solidFill>
                  <a:srgbClr val="EF002A"/>
                </a:solidFill>
                <a:latin typeface="Aptos"/>
                <a:sym typeface="+mn-ea"/>
              </a:rPr>
              <a:t>US DE J</a:t>
            </a:r>
            <a:r>
              <a:rPr lang="ru-RU" altLang="ru-RU" sz="1300" b="1">
                <a:solidFill>
                  <a:srgbClr val="EF002A"/>
                </a:solidFill>
                <a:latin typeface="Aptos"/>
                <a:sym typeface="+mn-ea"/>
              </a:rPr>
              <a:t>О</a:t>
            </a:r>
            <a:r>
              <a:rPr lang="en-GB" altLang="ru-RU" sz="1300" b="1">
                <a:solidFill>
                  <a:srgbClr val="EF002A"/>
                </a:solidFill>
                <a:latin typeface="Aptos"/>
                <a:sym typeface="+mn-ea"/>
              </a:rPr>
              <a:t>UER </a:t>
            </a:r>
            <a:r>
              <a:rPr sz="1300" b="1" i="0">
                <a:solidFill>
                  <a:srgbClr val="EF002A"/>
                </a:solidFill>
                <a:latin typeface="Aptos"/>
              </a:rPr>
              <a:t>: Hier soir, j’___ un film. A) regarde  B) vais regarder  C) ai regardé.</a:t>
            </a:r>
            <a:endParaRPr sz="1300" b="1" i="0">
              <a:solidFill>
                <a:srgbClr val="EF002A"/>
              </a:solidFill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SATURDAY MISTAKES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8B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36576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50707"/>
                </a:solidFill>
                <a:latin typeface="Aptos"/>
              </a:rPr>
              <a:t>THE COSY TAKEAWAY</a:t>
            </a:r>
            <a:endParaRPr sz="1200" b="1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6766560" cy="1965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0" i="0">
                <a:solidFill>
                  <a:srgbClr val="050707"/>
                </a:solidFill>
                <a:latin typeface="Georgia" panose="02040502050405020303"/>
              </a:rPr>
              <a:t>Notice the pattern.</a:t>
            </a:r>
            <a:endParaRPr sz="3200" b="0" i="0">
              <a:solidFill>
                <a:srgbClr val="050707"/>
              </a:solidFill>
              <a:latin typeface="Georgia" panose="02040502050405020303"/>
            </a:endParaRPr>
          </a:p>
          <a:p>
            <a:pPr algn="l">
              <a:spcAft>
                <a:spcPts val="300"/>
              </a:spcAft>
            </a:pPr>
            <a:r>
              <a:rPr sz="3200" b="0" i="0">
                <a:solidFill>
                  <a:srgbClr val="050707"/>
                </a:solidFill>
                <a:latin typeface="Georgia" panose="02040502050405020303"/>
              </a:rPr>
              <a:t>Practise the pattern.</a:t>
            </a:r>
            <a:endParaRPr sz="3200" b="0" i="0">
              <a:solidFill>
                <a:srgbClr val="050707"/>
              </a:solidFill>
              <a:latin typeface="Georgia" panose="02040502050405020303"/>
            </a:endParaRPr>
          </a:p>
          <a:p>
            <a:pPr algn="l">
              <a:spcAft>
                <a:spcPts val="300"/>
              </a:spcAft>
            </a:pPr>
            <a:r>
              <a:rPr sz="3200" b="0" i="0">
                <a:solidFill>
                  <a:srgbClr val="050707"/>
                </a:solidFill>
                <a:latin typeface="Georgia" panose="02040502050405020303"/>
              </a:rPr>
              <a:t>Make it your own.</a:t>
            </a:r>
            <a:endParaRPr sz="32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138160" y="1280160"/>
            <a:ext cx="2971800" cy="3108960"/>
          </a:xfrm>
          <a:prstGeom prst="roundRect">
            <a:avLst/>
          </a:prstGeom>
          <a:solidFill>
            <a:srgbClr val="05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0" y="1965960"/>
            <a:ext cx="2514600" cy="1645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FFFFFF"/>
                </a:solidFill>
                <a:latin typeface="Georgia" panose="02040502050405020303"/>
              </a:rPr>
              <a:t>MISTAKES</a:t>
            </a:r>
            <a:endParaRPr sz="2200" b="0" i="0">
              <a:solidFill>
                <a:srgbClr val="FFFFFF"/>
              </a:solidFill>
              <a:latin typeface="Georgia" panose="02040502050405020303"/>
            </a:endParaRPr>
          </a:p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FFFFFF"/>
                </a:solidFill>
                <a:latin typeface="Georgia" panose="02040502050405020303"/>
              </a:rPr>
              <a:t>ARE PART OF</a:t>
            </a:r>
            <a:endParaRPr sz="2200" b="0" i="0">
              <a:solidFill>
                <a:srgbClr val="FFFFFF"/>
              </a:solidFill>
              <a:latin typeface="Georgia" panose="02040502050405020303"/>
            </a:endParaRPr>
          </a:p>
          <a:p>
            <a:pPr algn="ctr">
              <a:spcAft>
                <a:spcPts val="300"/>
              </a:spcAft>
            </a:pPr>
            <a:r>
              <a:rPr sz="2200" b="0" i="0">
                <a:solidFill>
                  <a:srgbClr val="FFFFFF"/>
                </a:solidFill>
                <a:latin typeface="Georgia" panose="02040502050405020303"/>
              </a:rPr>
              <a:t>LEARNING.</a:t>
            </a:r>
            <a:endParaRPr sz="2200" b="0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4343400"/>
            <a:ext cx="10241280" cy="5943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050707"/>
                </a:solidFill>
                <a:latin typeface="Aptos"/>
              </a:rPr>
              <a:t>Which answer surprised you? Tell us in the comments: A, B or C — and why.</a:t>
            </a:r>
            <a:endParaRPr sz="17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5166360"/>
            <a:ext cx="1024128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 i="1">
                <a:solidFill>
                  <a:srgbClr val="EF002A"/>
                </a:solidFill>
                <a:latin typeface="Georgia" panose="02040502050405020303"/>
              </a:rPr>
              <a:t>Stay curious. Keep practising. Stay cozy!</a:t>
            </a:r>
            <a:endParaRPr sz="1800" b="0" i="1">
              <a:solidFill>
                <a:srgbClr val="EF002A"/>
              </a:solidFill>
              <a:latin typeface="Georgia" panose="020405020504050203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A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391656"/>
            <a:ext cx="27432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COSY LANGUAGES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79" y="6391656"/>
            <a:ext cx="41148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556464"/>
                </a:solidFill>
                <a:latin typeface="Aptos"/>
              </a:rPr>
              <a:t>RECAP</a:t>
            </a:r>
            <a:endParaRPr sz="900" b="1" i="0">
              <a:solidFill>
                <a:srgbClr val="55646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B8B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(5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502920"/>
            <a:ext cx="2926080" cy="29260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794760"/>
            <a:ext cx="107442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0" i="0">
                <a:solidFill>
                  <a:srgbClr val="050707"/>
                </a:solidFill>
                <a:latin typeface="Georgia" panose="02040502050405020303"/>
              </a:rPr>
              <a:t>MERCI !  THANK YOU FOR WATCHING</a:t>
            </a:r>
            <a:endParaRPr sz="2400" b="0" i="0">
              <a:solidFill>
                <a:srgbClr val="050707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4526280"/>
            <a:ext cx="10744200" cy="4114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 i="0">
                <a:solidFill>
                  <a:srgbClr val="050707"/>
                </a:solidFill>
                <a:latin typeface="Aptos"/>
              </a:rPr>
              <a:t>Like • Subscribe • Activate the bell • Join us next Saturday</a:t>
            </a:r>
            <a:endParaRPr sz="1600" b="0" i="0">
              <a:solidFill>
                <a:srgbClr val="050707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57800" y="5257800"/>
            <a:ext cx="1645920" cy="64008"/>
          </a:xfrm>
          <a:prstGeom prst="rect">
            <a:avLst/>
          </a:prstGeom>
          <a:solidFill>
            <a:srgbClr val="EF0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73725"/>
            <a:ext cx="10332720" cy="2197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050707"/>
                </a:solidFill>
                <a:latin typeface="Aptos"/>
              </a:rPr>
              <a:t>CONTINUE TO PRACTISE</a:t>
            </a:r>
            <a:r>
              <a:rPr lang="en-GB" sz="1200" b="1" i="0">
                <a:solidFill>
                  <a:srgbClr val="050707"/>
                </a:solidFill>
                <a:latin typeface="Aptos"/>
              </a:rPr>
              <a:t>!</a:t>
            </a:r>
            <a:r>
              <a:rPr sz="1200" b="1" i="0">
                <a:solidFill>
                  <a:srgbClr val="050707"/>
                </a:solidFill>
                <a:latin typeface="Aptos"/>
              </a:rPr>
              <a:t> AND STAY COZY!</a:t>
            </a:r>
            <a:endParaRPr sz="1200" b="1" i="0">
              <a:solidFill>
                <a:srgbClr val="050707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6743</Words>
  <Application>WPS Presentation</Application>
  <PresentationFormat>On-screen Show (4:3)</PresentationFormat>
  <Paragraphs>411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SimSun</vt:lpstr>
      <vt:lpstr>Wingdings</vt:lpstr>
      <vt:lpstr>Arial</vt:lpstr>
      <vt:lpstr>Georgia</vt:lpstr>
      <vt:lpstr>Aptos</vt:lpstr>
      <vt:lpstr>Segoe UI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Cosy Languages Saturday Mistakes — Episode Template</dc:title>
  <dc:creator>OpenAI</dc:creator>
  <dc:description>generated using python-pptx</dc:description>
  <dc:subject>Episode-specific PowerPoint based on the supplied Saturday Mistakes script</dc:subject>
  <cp:lastModifiedBy>COSY languages</cp:lastModifiedBy>
  <cp:revision>2</cp:revision>
  <dcterms:created xsi:type="dcterms:W3CDTF">2013-01-27T09:14:00Z</dcterms:created>
  <dcterms:modified xsi:type="dcterms:W3CDTF">2026-10-21T11:08:22Z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01DCD77A2BB049709DB66BDB45D00B9D_12</vt:lpwstr>
  </property>
  <property fmtid="{D5CDD505-2E9C-101B-9397-08002B2CF9AE}" pid="3" name="KSOProductBuildVer">
    <vt:lpwstr>1036-12.2.0.23196</vt:lpwstr>
  </property>
</Properties>
</file>